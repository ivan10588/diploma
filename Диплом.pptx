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6A81-5A9A-4231-A52C-63FAEB19F21A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29B3-7405-44B4-837D-29A7E02910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877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6A81-5A9A-4231-A52C-63FAEB19F21A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29B3-7405-44B4-837D-29A7E02910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641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6A81-5A9A-4231-A52C-63FAEB19F21A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29B3-7405-44B4-837D-29A7E02910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989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6A81-5A9A-4231-A52C-63FAEB19F21A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29B3-7405-44B4-837D-29A7E02910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400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6A81-5A9A-4231-A52C-63FAEB19F21A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29B3-7405-44B4-837D-29A7E02910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315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6A81-5A9A-4231-A52C-63FAEB19F21A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29B3-7405-44B4-837D-29A7E02910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939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6A81-5A9A-4231-A52C-63FAEB19F21A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29B3-7405-44B4-837D-29A7E02910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67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6A81-5A9A-4231-A52C-63FAEB19F21A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29B3-7405-44B4-837D-29A7E02910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019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6A81-5A9A-4231-A52C-63FAEB19F21A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29B3-7405-44B4-837D-29A7E02910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173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6A81-5A9A-4231-A52C-63FAEB19F21A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29B3-7405-44B4-837D-29A7E02910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31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6A81-5A9A-4231-A52C-63FAEB19F21A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29B3-7405-44B4-837D-29A7E02910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561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46A81-5A9A-4231-A52C-63FAEB19F21A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529B3-7405-44B4-837D-29A7E02910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985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23731" y="318052"/>
            <a:ext cx="983973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5400" dirty="0" err="1" smtClean="0"/>
              <a:t>СпецТехника</a:t>
            </a:r>
            <a:r>
              <a:rPr lang="ru-RU" sz="5400" dirty="0" smtClean="0"/>
              <a:t> </a:t>
            </a:r>
            <a:r>
              <a:rPr lang="ru-RU" sz="5400" dirty="0" err="1" smtClean="0"/>
              <a:t>Маркет</a:t>
            </a:r>
            <a:endParaRPr lang="ru-RU" sz="5400" dirty="0"/>
          </a:p>
        </p:txBody>
      </p:sp>
      <p:sp>
        <p:nvSpPr>
          <p:cNvPr id="6" name="TextBox 5"/>
          <p:cNvSpPr txBox="1"/>
          <p:nvPr/>
        </p:nvSpPr>
        <p:spPr>
          <a:xfrm>
            <a:off x="1023730" y="1610139"/>
            <a:ext cx="9839739" cy="58477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/>
              <a:t>Итоговая презентация проекта</a:t>
            </a:r>
            <a:endParaRPr lang="ru-R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1023730" y="2563671"/>
            <a:ext cx="5072270" cy="95410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Автор: Иванов Иван Витальевич</a:t>
            </a:r>
          </a:p>
          <a:p>
            <a:r>
              <a:rPr lang="ru-RU" sz="2800" dirty="0" smtClean="0"/>
              <a:t>Группа:</a:t>
            </a:r>
            <a:r>
              <a:rPr lang="en-US" sz="2800" dirty="0" smtClean="0"/>
              <a:t> Python 512</a:t>
            </a:r>
            <a:endParaRPr lang="ru-RU" sz="28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592" y="2554066"/>
            <a:ext cx="4591878" cy="275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82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0926" y="513805"/>
            <a:ext cx="11556274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3500" dirty="0"/>
              <a:t>«</a:t>
            </a:r>
            <a:r>
              <a:rPr lang="ru-RU" sz="3500" dirty="0" err="1"/>
              <a:t>СпецТехника</a:t>
            </a:r>
            <a:r>
              <a:rPr lang="ru-RU" sz="3500" dirty="0"/>
              <a:t> </a:t>
            </a:r>
            <a:r>
              <a:rPr lang="ru-RU" sz="3500" dirty="0" err="1"/>
              <a:t>Маркет</a:t>
            </a:r>
            <a:r>
              <a:rPr lang="ru-RU" sz="3500" dirty="0"/>
              <a:t>»: бот для объявлений </a:t>
            </a:r>
            <a:r>
              <a:rPr lang="ru-RU" sz="3500" dirty="0" smtClean="0"/>
              <a:t>о спецтехнике</a:t>
            </a:r>
            <a:endParaRPr lang="ru-RU" sz="3500" dirty="0"/>
          </a:p>
        </p:txBody>
      </p:sp>
      <p:sp>
        <p:nvSpPr>
          <p:cNvPr id="3" name="TextBox 2"/>
          <p:cNvSpPr txBox="1"/>
          <p:nvPr/>
        </p:nvSpPr>
        <p:spPr>
          <a:xfrm>
            <a:off x="330927" y="2002970"/>
            <a:ext cx="2143916" cy="26468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800" b="1" u="sng" dirty="0" smtClean="0"/>
              <a:t>СУТЬ</a:t>
            </a:r>
            <a:endParaRPr lang="en-US" sz="2800" b="1" u="sng" dirty="0" smtClean="0"/>
          </a:p>
          <a:p>
            <a:pPr algn="ctr"/>
            <a:r>
              <a:rPr lang="ru-RU" sz="2000" dirty="0"/>
              <a:t>Поиск и публикация объявлений внутри </a:t>
            </a:r>
            <a:r>
              <a:rPr lang="ru-RU" sz="2000" dirty="0" err="1" smtClean="0"/>
              <a:t>Telegram</a:t>
            </a:r>
            <a:r>
              <a:rPr lang="en-US" sz="2000" dirty="0" smtClean="0"/>
              <a:t>.</a:t>
            </a:r>
          </a:p>
          <a:p>
            <a:pPr algn="ctr"/>
            <a:endParaRPr lang="en-US" sz="2000" dirty="0"/>
          </a:p>
          <a:p>
            <a:pPr algn="ctr"/>
            <a:endParaRPr lang="en-US" sz="2000" dirty="0" smtClean="0"/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703812" y="2002970"/>
            <a:ext cx="2055506" cy="26991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800" b="1" u="sng" dirty="0"/>
              <a:t>ДЛЯ </a:t>
            </a:r>
            <a:r>
              <a:rPr lang="ru-RU" sz="2800" b="1" u="sng" dirty="0" smtClean="0"/>
              <a:t>КОГО</a:t>
            </a:r>
            <a:endParaRPr lang="en-US" sz="2800" b="1" u="sng" dirty="0" smtClean="0"/>
          </a:p>
          <a:p>
            <a:pPr algn="ctr"/>
            <a:r>
              <a:rPr lang="ru-RU" sz="2000" dirty="0"/>
              <a:t>Покупатели — быстрый подбор по параметрам; продавцы — пошаговая публикация без сложных форм.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88287" y="1950719"/>
            <a:ext cx="2163417" cy="46474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800" b="1" u="sng" dirty="0"/>
              <a:t>КЛЮЧЕВАЯ </a:t>
            </a:r>
            <a:r>
              <a:rPr lang="ru-RU" sz="2800" b="1" u="sng" dirty="0" smtClean="0"/>
              <a:t>ЦЕННОСТЬ</a:t>
            </a:r>
            <a:endParaRPr lang="en-US" sz="2800" b="1" u="sng" dirty="0" smtClean="0"/>
          </a:p>
          <a:p>
            <a:pPr algn="ctr"/>
            <a:r>
              <a:rPr lang="ru-RU" sz="2000" dirty="0"/>
              <a:t>Экономия времени, привычный мессенджер, узкая специализация под специфику техники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algn="ctr"/>
            <a:r>
              <a:rPr lang="ru-RU" sz="1600" dirty="0"/>
              <a:t>Параметры: грузоподъёмность, вылет стрелы, тип ходовой, регион, </a:t>
            </a:r>
            <a:r>
              <a:rPr lang="ru-RU" sz="1600" dirty="0" smtClean="0"/>
              <a:t>бюджет</a:t>
            </a:r>
            <a:r>
              <a:rPr lang="en-US" sz="1600" dirty="0" smtClean="0"/>
              <a:t>.</a:t>
            </a:r>
            <a:endParaRPr lang="ru-RU" sz="1600" b="1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12515" y="5585791"/>
            <a:ext cx="2213491" cy="71561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Пользователь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976954" y="5600078"/>
            <a:ext cx="1453716" cy="71561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Бот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759318" y="5600077"/>
            <a:ext cx="1927482" cy="71561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Каталог объявлений</a:t>
            </a:r>
          </a:p>
        </p:txBody>
      </p:sp>
      <p:sp>
        <p:nvSpPr>
          <p:cNvPr id="9" name="Стрелка вправо 8"/>
          <p:cNvSpPr/>
          <p:nvPr/>
        </p:nvSpPr>
        <p:spPr>
          <a:xfrm>
            <a:off x="2723322" y="5794513"/>
            <a:ext cx="1093304" cy="377687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998" y="5750603"/>
            <a:ext cx="1109568" cy="4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52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3487" y="119270"/>
            <a:ext cx="957138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Постановка задачи и проблематика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4073" y="813522"/>
            <a:ext cx="813020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Фрагментированный рынок спецтехники и решение через </a:t>
            </a:r>
            <a:r>
              <a:rPr lang="ru-RU" sz="2000" dirty="0" err="1"/>
              <a:t>Telegram</a:t>
            </a:r>
            <a:r>
              <a:rPr lang="ru-RU" sz="2000" dirty="0"/>
              <a:t>‑бота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5557" y="1289639"/>
            <a:ext cx="1818861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4000" dirty="0"/>
              <a:t>До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328992" y="1295645"/>
            <a:ext cx="1987826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ru-RU" sz="4000" dirty="0" smtClean="0"/>
              <a:t>После</a:t>
            </a:r>
            <a:endParaRPr lang="ru-RU" sz="4000" dirty="0"/>
          </a:p>
        </p:txBody>
      </p:sp>
      <p:sp>
        <p:nvSpPr>
          <p:cNvPr id="10" name="TextBox 9"/>
          <p:cNvSpPr txBox="1"/>
          <p:nvPr/>
        </p:nvSpPr>
        <p:spPr>
          <a:xfrm>
            <a:off x="146290" y="2073532"/>
            <a:ext cx="5963479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b="1" dirty="0" smtClean="0"/>
              <a:t>Фрагментированные </a:t>
            </a:r>
            <a:r>
              <a:rPr lang="ru-RU" b="1" dirty="0"/>
              <a:t>источники: </a:t>
            </a:r>
            <a:r>
              <a:rPr lang="ru-RU" dirty="0"/>
              <a:t>доски объявлений, чаты, звонки, личные сообщения.</a:t>
            </a:r>
            <a:endParaRPr lang="ru-RU" dirty="0" smtClean="0"/>
          </a:p>
          <a:p>
            <a:r>
              <a:rPr lang="ru-RU" b="1" dirty="0"/>
              <a:t>Нет единого фильтра:</a:t>
            </a:r>
            <a:r>
              <a:rPr lang="ru-RU" dirty="0"/>
              <a:t> подбор по параметрам техники приходится делать вручную</a:t>
            </a:r>
            <a:r>
              <a:rPr lang="ru-RU" dirty="0" smtClean="0"/>
              <a:t>.</a:t>
            </a:r>
          </a:p>
          <a:p>
            <a:r>
              <a:rPr lang="ru-RU" b="1" dirty="0"/>
              <a:t>Потери времени:</a:t>
            </a:r>
            <a:r>
              <a:rPr lang="ru-RU" dirty="0"/>
              <a:t> пользователь тратит много времени на сбор и сравнение вариантов. </a:t>
            </a:r>
          </a:p>
        </p:txBody>
      </p:sp>
      <p:sp>
        <p:nvSpPr>
          <p:cNvPr id="13" name="Овал 12"/>
          <p:cNvSpPr/>
          <p:nvPr/>
        </p:nvSpPr>
        <p:spPr>
          <a:xfrm>
            <a:off x="1784073" y="4393645"/>
            <a:ext cx="1411357" cy="74214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err="1"/>
              <a:t>Авито</a:t>
            </a:r>
            <a:endParaRPr lang="ru-RU" sz="2400" dirty="0"/>
          </a:p>
        </p:txBody>
      </p:sp>
      <p:sp>
        <p:nvSpPr>
          <p:cNvPr id="14" name="Овал 13"/>
          <p:cNvSpPr/>
          <p:nvPr/>
        </p:nvSpPr>
        <p:spPr>
          <a:xfrm>
            <a:off x="1736552" y="3903865"/>
            <a:ext cx="1490870" cy="67662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Звонки</a:t>
            </a:r>
          </a:p>
        </p:txBody>
      </p:sp>
      <p:sp>
        <p:nvSpPr>
          <p:cNvPr id="15" name="Овал 14"/>
          <p:cNvSpPr/>
          <p:nvPr/>
        </p:nvSpPr>
        <p:spPr>
          <a:xfrm>
            <a:off x="3004719" y="4352722"/>
            <a:ext cx="1461053" cy="95415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WhatsApp</a:t>
            </a:r>
            <a:endParaRPr lang="ru-RU" sz="2400" dirty="0"/>
          </a:p>
        </p:txBody>
      </p:sp>
      <p:sp>
        <p:nvSpPr>
          <p:cNvPr id="16" name="Овал 15"/>
          <p:cNvSpPr/>
          <p:nvPr/>
        </p:nvSpPr>
        <p:spPr>
          <a:xfrm>
            <a:off x="481109" y="4393645"/>
            <a:ext cx="1556096" cy="85476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Форумы</a:t>
            </a:r>
          </a:p>
        </p:txBody>
      </p:sp>
      <p:sp>
        <p:nvSpPr>
          <p:cNvPr id="17" name="Овал 16"/>
          <p:cNvSpPr/>
          <p:nvPr/>
        </p:nvSpPr>
        <p:spPr>
          <a:xfrm>
            <a:off x="1836563" y="5007870"/>
            <a:ext cx="1406388" cy="87214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Группы ВК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1" y="2085544"/>
            <a:ext cx="5446644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Создать единый инструмент в </a:t>
            </a:r>
            <a:r>
              <a:rPr lang="ru-RU" sz="2000" b="1" dirty="0" err="1"/>
              <a:t>Telegram</a:t>
            </a:r>
            <a:r>
              <a:rPr lang="ru-RU" sz="2000" b="1" dirty="0"/>
              <a:t> для поиска и публикации </a:t>
            </a:r>
            <a:r>
              <a:rPr lang="ru-RU" sz="2000" b="1" dirty="0" smtClean="0"/>
              <a:t>объявлений</a:t>
            </a:r>
            <a:endParaRPr lang="ru-RU" sz="2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400801" y="2950695"/>
            <a:ext cx="5446644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1600" dirty="0"/>
              <a:t>Фильтры по техническим параметрам (тип, регион, бюджет, грузоподъёмность и т. д</a:t>
            </a:r>
            <a:r>
              <a:rPr lang="ru-RU" sz="1600" dirty="0" smtClean="0"/>
              <a:t>.).</a:t>
            </a:r>
          </a:p>
          <a:p>
            <a:r>
              <a:rPr lang="ru-RU" sz="1600" dirty="0"/>
              <a:t>Пошаговый диалог для публикации (без сложных форм</a:t>
            </a:r>
            <a:r>
              <a:rPr lang="ru-RU" sz="1600" dirty="0" smtClean="0"/>
              <a:t>).</a:t>
            </a:r>
          </a:p>
          <a:p>
            <a:r>
              <a:rPr lang="ru-RU" sz="1600" dirty="0"/>
              <a:t>Единый каталог с сохранением избранного и сравнения.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1" y="4168056"/>
            <a:ext cx="544664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Ценность для всех участников </a:t>
            </a:r>
            <a:r>
              <a:rPr lang="ru-RU" sz="2400" b="1" dirty="0" smtClean="0"/>
              <a:t>рынка</a:t>
            </a:r>
            <a:endParaRPr lang="ru-RU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400801" y="4782224"/>
            <a:ext cx="5446644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000" dirty="0"/>
              <a:t>Покупатель</a:t>
            </a:r>
            <a:r>
              <a:rPr lang="ru-RU" sz="2000" dirty="0" smtClean="0"/>
              <a:t>: </a:t>
            </a:r>
            <a:r>
              <a:rPr lang="ru-RU" sz="2000" dirty="0"/>
              <a:t>экономия времени, релевантные результаты</a:t>
            </a:r>
            <a:r>
              <a:rPr lang="ru-RU" sz="2000" dirty="0" smtClean="0"/>
              <a:t>.</a:t>
            </a:r>
          </a:p>
          <a:p>
            <a:r>
              <a:rPr lang="ru-RU" sz="2000" dirty="0" smtClean="0"/>
              <a:t>Продавец: </a:t>
            </a:r>
            <a:r>
              <a:rPr lang="ru-RU" sz="2000" dirty="0"/>
              <a:t>быстрый охват целевой аудитории</a:t>
            </a:r>
            <a:r>
              <a:rPr lang="ru-RU" sz="2000" dirty="0" smtClean="0"/>
              <a:t>.</a:t>
            </a:r>
          </a:p>
          <a:p>
            <a:r>
              <a:rPr lang="ru-RU" sz="2000" dirty="0" smtClean="0"/>
              <a:t>Рынок: </a:t>
            </a:r>
            <a:r>
              <a:rPr lang="ru-RU" sz="2000" dirty="0"/>
              <a:t>упорядочивание потока объявлений.</a:t>
            </a:r>
          </a:p>
        </p:txBody>
      </p:sp>
    </p:spTree>
    <p:extLst>
      <p:ext uri="{BB962C8B-B14F-4D97-AF65-F5344CB8AC3E}">
        <p14:creationId xmlns:p14="http://schemas.microsoft.com/office/powerpoint/2010/main" val="345582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608" y="546653"/>
            <a:ext cx="2882348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4000" dirty="0"/>
              <a:t>Цели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76930" y="552727"/>
            <a:ext cx="2882348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/>
              <a:t>Задачи</a:t>
            </a:r>
            <a:endParaRPr lang="ru-RU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327991" y="1729409"/>
            <a:ext cx="5068957" cy="41549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dirty="0"/>
              <a:t>Создать MVP </a:t>
            </a:r>
            <a:r>
              <a:rPr lang="ru-RU" sz="2400" dirty="0" err="1"/>
              <a:t>Telegram</a:t>
            </a:r>
            <a:r>
              <a:rPr lang="ru-RU" sz="2400" dirty="0"/>
              <a:t>‑бота с каталогом </a:t>
            </a:r>
            <a:r>
              <a:rPr lang="ru-RU" sz="2400" dirty="0" smtClean="0"/>
              <a:t>объявлений</a:t>
            </a:r>
          </a:p>
          <a:p>
            <a:endParaRPr lang="ru-RU" sz="2400" dirty="0" smtClean="0"/>
          </a:p>
          <a:p>
            <a:r>
              <a:rPr lang="ru-RU" sz="2400" dirty="0"/>
              <a:t>Обеспечить быстрый поиск по ключевым </a:t>
            </a:r>
            <a:r>
              <a:rPr lang="ru-RU" sz="2400" dirty="0" smtClean="0"/>
              <a:t>параметрам</a:t>
            </a:r>
          </a:p>
          <a:p>
            <a:endParaRPr lang="ru-RU" sz="2400" dirty="0" smtClean="0"/>
          </a:p>
          <a:p>
            <a:r>
              <a:rPr lang="ru-RU" sz="2400" dirty="0"/>
              <a:t>Дать продавцу простой инструмент </a:t>
            </a:r>
            <a:r>
              <a:rPr lang="ru-RU" sz="2400" dirty="0" smtClean="0"/>
              <a:t>размещения</a:t>
            </a:r>
          </a:p>
          <a:p>
            <a:endParaRPr lang="ru-RU" sz="2400" dirty="0" smtClean="0"/>
          </a:p>
          <a:p>
            <a:r>
              <a:rPr lang="ru-RU" sz="2400" dirty="0"/>
              <a:t>Подготовить базу для масштабирования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1495" y="1729409"/>
            <a:ext cx="5068957" cy="489364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dirty="0"/>
              <a:t>Спроектировать БД (пользователи, объявления, настройки уведомлений</a:t>
            </a:r>
            <a:r>
              <a:rPr lang="ru-RU" sz="2400" dirty="0" smtClean="0"/>
              <a:t>)</a:t>
            </a:r>
          </a:p>
          <a:p>
            <a:endParaRPr lang="ru-RU" sz="2400" dirty="0" smtClean="0"/>
          </a:p>
          <a:p>
            <a:r>
              <a:rPr lang="ru-RU" sz="2400" dirty="0"/>
              <a:t>Реализовать пошаговую публикацию объявления через </a:t>
            </a:r>
            <a:r>
              <a:rPr lang="ru-RU" sz="2400" dirty="0" smtClean="0"/>
              <a:t>диалог</a:t>
            </a:r>
          </a:p>
          <a:p>
            <a:endParaRPr lang="ru-RU" sz="2400" dirty="0" smtClean="0"/>
          </a:p>
          <a:p>
            <a:r>
              <a:rPr lang="ru-RU" sz="2400" dirty="0"/>
              <a:t>Сделать меню и команды интуитивно </a:t>
            </a:r>
            <a:r>
              <a:rPr lang="ru-RU" sz="2400" dirty="0" smtClean="0"/>
              <a:t>понятными</a:t>
            </a:r>
          </a:p>
          <a:p>
            <a:endParaRPr lang="ru-RU" sz="2400" dirty="0" smtClean="0"/>
          </a:p>
          <a:p>
            <a:r>
              <a:rPr lang="ru-RU" sz="2400" dirty="0"/>
              <a:t>Протестировать ключевые сценарии, исправить баги, подготовить документацию</a:t>
            </a:r>
          </a:p>
        </p:txBody>
      </p:sp>
    </p:spTree>
    <p:extLst>
      <p:ext uri="{BB962C8B-B14F-4D97-AF65-F5344CB8AC3E}">
        <p14:creationId xmlns:p14="http://schemas.microsoft.com/office/powerpoint/2010/main" val="350170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3426" y="248478"/>
            <a:ext cx="100584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/>
              <a:t>Анализ аналогов и конкурентные преимущества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3426" y="1083365"/>
            <a:ext cx="100584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Почему существующие решения не закрывают </a:t>
            </a:r>
            <a:r>
              <a:rPr lang="ru-RU" sz="2400" dirty="0" smtClean="0"/>
              <a:t>задачу???</a:t>
            </a:r>
            <a:endParaRPr lang="ru-RU" sz="24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76595"/>
              </p:ext>
            </p:extLst>
          </p:nvPr>
        </p:nvGraphicFramePr>
        <p:xfrm>
          <a:off x="83930" y="1733584"/>
          <a:ext cx="6012069" cy="4661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4023">
                  <a:extLst>
                    <a:ext uri="{9D8B030D-6E8A-4147-A177-3AD203B41FA5}">
                      <a16:colId xmlns:a16="http://schemas.microsoft.com/office/drawing/2014/main" val="2301599432"/>
                    </a:ext>
                  </a:extLst>
                </a:gridCol>
                <a:gridCol w="2004023">
                  <a:extLst>
                    <a:ext uri="{9D8B030D-6E8A-4147-A177-3AD203B41FA5}">
                      <a16:colId xmlns:a16="http://schemas.microsoft.com/office/drawing/2014/main" val="853898887"/>
                    </a:ext>
                  </a:extLst>
                </a:gridCol>
                <a:gridCol w="2004023">
                  <a:extLst>
                    <a:ext uri="{9D8B030D-6E8A-4147-A177-3AD203B41FA5}">
                      <a16:colId xmlns:a16="http://schemas.microsoft.com/office/drawing/2014/main" val="390298759"/>
                    </a:ext>
                  </a:extLst>
                </a:gridCol>
              </a:tblGrid>
              <a:tr h="114195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Аналоги</a:t>
                      </a:r>
                      <a:endParaRPr lang="ru-R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Плюсы</a:t>
                      </a:r>
                      <a:endParaRPr lang="ru-R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Минусы</a:t>
                      </a:r>
                      <a:endParaRPr lang="ru-R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28414"/>
                  </a:ext>
                </a:extLst>
              </a:tr>
              <a:tr h="114195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Telegram‑</a:t>
                      </a:r>
                      <a:r>
                        <a:rPr lang="ru-RU" dirty="0" smtClean="0"/>
                        <a:t>боты объявлений (общие)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Работают в мессенджере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Слабая фильтрация, нет специфики техники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49955"/>
                  </a:ext>
                </a:extLst>
              </a:tr>
              <a:tr h="1141956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Доски объявлений (</a:t>
                      </a:r>
                      <a:r>
                        <a:rPr lang="ru-RU" dirty="0" err="1" smtClean="0"/>
                        <a:t>Avito</a:t>
                      </a:r>
                      <a:r>
                        <a:rPr lang="ru-RU" dirty="0" smtClean="0"/>
                        <a:t> и др.)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Огромная аудитория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Громоздкие формы, нет быстрых уведомлений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534667"/>
                  </a:ext>
                </a:extLst>
              </a:tr>
              <a:tr h="1141956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Чаты спецтехники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Узкая тематика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Хаос, отсутствие </a:t>
                      </a:r>
                      <a:r>
                        <a:rPr lang="ru-RU" dirty="0" err="1" smtClean="0"/>
                        <a:t>модерации</a:t>
                      </a:r>
                      <a:r>
                        <a:rPr lang="ru-RU" dirty="0" smtClean="0"/>
                        <a:t>, сложно искать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90355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08913" y="1747698"/>
            <a:ext cx="4999383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/>
              <a:t>Наши преимущества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8913" y="3185362"/>
            <a:ext cx="4909930" cy="22467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ru-RU" sz="2800" dirty="0"/>
              <a:t>Узкая </a:t>
            </a:r>
            <a:r>
              <a:rPr lang="ru-RU" sz="2800" dirty="0" smtClean="0"/>
              <a:t>специализация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2800" dirty="0" smtClean="0"/>
              <a:t>Пошаговая публикация 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2800" dirty="0" smtClean="0"/>
              <a:t>Уведомления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2800" dirty="0" err="1" smtClean="0"/>
              <a:t>Модерация</a:t>
            </a:r>
            <a:endParaRPr lang="ru-RU" sz="2800" dirty="0" smtClean="0"/>
          </a:p>
          <a:p>
            <a:pPr marL="742950" indent="-742950">
              <a:buFont typeface="+mj-lt"/>
              <a:buAutoNum type="arabicPeriod"/>
            </a:pPr>
            <a:r>
              <a:rPr lang="ru-RU" sz="2800" dirty="0" smtClean="0"/>
              <a:t>Адаптивность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83557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609" y="228600"/>
            <a:ext cx="10127974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4000" dirty="0"/>
              <a:t>Стек технологий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3778" y="1152939"/>
            <a:ext cx="1070444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Асинхронный стек для </a:t>
            </a:r>
            <a:r>
              <a:rPr lang="ru-RU" sz="2400" dirty="0" err="1"/>
              <a:t>Telegram</a:t>
            </a:r>
            <a:r>
              <a:rPr lang="ru-RU" sz="2400" dirty="0"/>
              <a:t>‑бота: производительность и масштабируемость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931" y="2650913"/>
            <a:ext cx="2862470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b="1" dirty="0"/>
              <a:t>Язык и </a:t>
            </a:r>
            <a:r>
              <a:rPr lang="ru-RU" sz="2400" b="1" dirty="0" err="1" smtClean="0"/>
              <a:t>фреймворк</a:t>
            </a:r>
            <a:r>
              <a:rPr lang="ru-RU" sz="2400" b="1" dirty="0" smtClean="0"/>
              <a:t>: </a:t>
            </a:r>
          </a:p>
          <a:p>
            <a:r>
              <a:rPr lang="en-US" sz="2000" dirty="0" smtClean="0"/>
              <a:t>Python </a:t>
            </a:r>
            <a:r>
              <a:rPr lang="en-US" sz="2000" dirty="0"/>
              <a:t>3.14, </a:t>
            </a:r>
            <a:r>
              <a:rPr lang="en-US" sz="2000" dirty="0" err="1"/>
              <a:t>aiogram</a:t>
            </a:r>
            <a:r>
              <a:rPr lang="en-US" sz="2000" dirty="0"/>
              <a:t> </a:t>
            </a:r>
            <a:r>
              <a:rPr lang="en-US" sz="2000" dirty="0" smtClean="0"/>
              <a:t>3.x</a:t>
            </a:r>
            <a:endParaRPr lang="ru-RU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337931" y="3614578"/>
            <a:ext cx="2862470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b="1" dirty="0"/>
              <a:t>База данных</a:t>
            </a:r>
            <a:r>
              <a:rPr lang="ru-RU" sz="2400" b="1" dirty="0" smtClean="0"/>
              <a:t>: </a:t>
            </a:r>
          </a:p>
          <a:p>
            <a:r>
              <a:rPr lang="en-US" sz="2000" dirty="0" smtClean="0"/>
              <a:t>PostgreSQL</a:t>
            </a:r>
            <a:endParaRPr lang="ru-R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3641035" y="2650913"/>
            <a:ext cx="2862470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b="1" dirty="0"/>
              <a:t>Состояния диалога</a:t>
            </a:r>
            <a:r>
              <a:rPr lang="ru-RU" sz="2400" b="1" dirty="0" smtClean="0"/>
              <a:t>: </a:t>
            </a:r>
          </a:p>
          <a:p>
            <a:r>
              <a:rPr lang="en-US" sz="2000" dirty="0"/>
              <a:t>FSM (Finite State Machine) </a:t>
            </a:r>
            <a:r>
              <a:rPr lang="en-US" sz="2000" dirty="0" err="1"/>
              <a:t>из</a:t>
            </a:r>
            <a:r>
              <a:rPr lang="en-US" sz="2000" dirty="0"/>
              <a:t> </a:t>
            </a:r>
            <a:r>
              <a:rPr lang="en-US" sz="2000" dirty="0" err="1"/>
              <a:t>aiogram</a:t>
            </a:r>
            <a:endParaRPr lang="ru-RU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3641035" y="4009189"/>
            <a:ext cx="2862470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b="1" dirty="0"/>
              <a:t>Инструменты</a:t>
            </a:r>
            <a:r>
              <a:rPr lang="ru-RU" sz="2400" b="1" dirty="0" smtClean="0"/>
              <a:t>: </a:t>
            </a:r>
          </a:p>
          <a:p>
            <a:r>
              <a:rPr lang="ru-RU" sz="2000" dirty="0" err="1"/>
              <a:t>Git</a:t>
            </a:r>
            <a:r>
              <a:rPr lang="ru-RU" sz="2000" dirty="0"/>
              <a:t>, виртуальное окружение, </a:t>
            </a:r>
            <a:r>
              <a:rPr lang="ru-RU" sz="2000" dirty="0" err="1"/>
              <a:t>pytest</a:t>
            </a:r>
            <a:r>
              <a:rPr lang="ru-RU" sz="2000" dirty="0"/>
              <a:t>, </a:t>
            </a:r>
            <a:r>
              <a:rPr lang="ru-RU" sz="2000" dirty="0" err="1"/>
              <a:t>Docker</a:t>
            </a:r>
            <a:endParaRPr lang="ru-RU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337931" y="4652497"/>
            <a:ext cx="2862470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ORM</a:t>
            </a:r>
            <a:r>
              <a:rPr lang="ru-RU" sz="2400" b="1" dirty="0" smtClean="0"/>
              <a:t>: </a:t>
            </a:r>
          </a:p>
          <a:p>
            <a:r>
              <a:rPr lang="en-US" sz="2000" dirty="0" err="1" smtClean="0"/>
              <a:t>SQLAlchemy</a:t>
            </a:r>
            <a:endParaRPr lang="ru-RU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337931" y="5665881"/>
            <a:ext cx="2862470" cy="11387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b="1" dirty="0"/>
              <a:t>Конфигурация и </a:t>
            </a:r>
            <a:r>
              <a:rPr lang="ru-RU" sz="2400" b="1" dirty="0" err="1"/>
              <a:t>валидация</a:t>
            </a:r>
            <a:r>
              <a:rPr lang="ru-RU" sz="2400" b="1" dirty="0" smtClean="0"/>
              <a:t>: </a:t>
            </a:r>
          </a:p>
          <a:p>
            <a:r>
              <a:rPr lang="en-US" sz="2000" dirty="0" err="1"/>
              <a:t>Pydantic</a:t>
            </a:r>
            <a:endParaRPr lang="ru-RU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3641035" y="5622881"/>
            <a:ext cx="2862470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b="1" dirty="0"/>
              <a:t>Хостинг</a:t>
            </a:r>
            <a:r>
              <a:rPr lang="ru-RU" sz="2400" b="1" dirty="0" smtClean="0"/>
              <a:t>: </a:t>
            </a:r>
          </a:p>
          <a:p>
            <a:r>
              <a:rPr lang="ru-RU" sz="2000" dirty="0"/>
              <a:t>Сервер с </a:t>
            </a:r>
            <a:r>
              <a:rPr lang="en-US" sz="2000" dirty="0"/>
              <a:t>Python</a:t>
            </a:r>
            <a:endParaRPr lang="ru-RU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522513" y="1699591"/>
            <a:ext cx="5980991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/>
              <a:t>Список стека</a:t>
            </a:r>
            <a:endParaRPr lang="ru-RU" sz="3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788425" y="1699591"/>
            <a:ext cx="490718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err="1" smtClean="0"/>
              <a:t>Визуал</a:t>
            </a:r>
            <a:endParaRPr lang="ru-RU" sz="3200" b="1" dirty="0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6818244" y="2635163"/>
            <a:ext cx="1709530" cy="7851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Telegram </a:t>
            </a:r>
            <a:r>
              <a:rPr lang="en-US" sz="2000" dirty="0" smtClean="0"/>
              <a:t>API</a:t>
            </a:r>
            <a:endParaRPr lang="ru-RU" sz="2000" dirty="0"/>
          </a:p>
        </p:txBody>
      </p:sp>
      <p:sp>
        <p:nvSpPr>
          <p:cNvPr id="14" name="Стрелка вправо 13"/>
          <p:cNvSpPr/>
          <p:nvPr/>
        </p:nvSpPr>
        <p:spPr>
          <a:xfrm>
            <a:off x="8754736" y="2888166"/>
            <a:ext cx="695739" cy="3040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578" y="3752102"/>
            <a:ext cx="713294" cy="341406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838" y="4695811"/>
            <a:ext cx="713294" cy="341406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768" y="3752102"/>
            <a:ext cx="713294" cy="341406"/>
          </a:xfrm>
          <a:prstGeom prst="rect">
            <a:avLst/>
          </a:prstGeom>
        </p:spPr>
      </p:pic>
      <p:sp>
        <p:nvSpPr>
          <p:cNvPr id="30" name="Скругленный прямоугольник 29"/>
          <p:cNvSpPr/>
          <p:nvPr/>
        </p:nvSpPr>
        <p:spPr>
          <a:xfrm>
            <a:off x="9677437" y="2644622"/>
            <a:ext cx="1898468" cy="7851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aiogram</a:t>
            </a:r>
            <a:endParaRPr lang="ru-RU" sz="2000" dirty="0"/>
          </a:p>
        </p:txBody>
      </p:sp>
      <p:sp>
        <p:nvSpPr>
          <p:cNvPr id="31" name="Скругленный прямоугольник 30"/>
          <p:cNvSpPr/>
          <p:nvPr/>
        </p:nvSpPr>
        <p:spPr>
          <a:xfrm>
            <a:off x="7658959" y="3560727"/>
            <a:ext cx="1576251" cy="798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Python</a:t>
            </a:r>
            <a:endParaRPr lang="ru-RU" sz="2000" dirty="0"/>
          </a:p>
        </p:txBody>
      </p:sp>
      <p:sp>
        <p:nvSpPr>
          <p:cNvPr id="32" name="Скругленный прямоугольник 31"/>
          <p:cNvSpPr/>
          <p:nvPr/>
        </p:nvSpPr>
        <p:spPr>
          <a:xfrm>
            <a:off x="10269620" y="3562280"/>
            <a:ext cx="1619794" cy="798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SQLAlchemy</a:t>
            </a:r>
            <a:endParaRPr lang="ru-RU" sz="2000" dirty="0"/>
          </a:p>
        </p:txBody>
      </p:sp>
      <p:sp>
        <p:nvSpPr>
          <p:cNvPr id="33" name="Скругленный прямоугольник 32"/>
          <p:cNvSpPr/>
          <p:nvPr/>
        </p:nvSpPr>
        <p:spPr>
          <a:xfrm>
            <a:off x="8127465" y="4484765"/>
            <a:ext cx="1776549" cy="7634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PostgreSQL</a:t>
            </a:r>
            <a:endParaRPr lang="ru-RU" sz="2000" dirty="0"/>
          </a:p>
        </p:txBody>
      </p:sp>
      <p:sp>
        <p:nvSpPr>
          <p:cNvPr id="34" name="TextBox 33"/>
          <p:cNvSpPr txBox="1"/>
          <p:nvPr/>
        </p:nvSpPr>
        <p:spPr>
          <a:xfrm>
            <a:off x="6735299" y="5368965"/>
            <a:ext cx="532093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Бот — отдельный асинхронный сервис: </a:t>
            </a:r>
            <a:r>
              <a:rPr lang="ru-RU" dirty="0" err="1"/>
              <a:t>SQLAlchemy</a:t>
            </a:r>
            <a:r>
              <a:rPr lang="ru-RU" dirty="0"/>
              <a:t> для независимой работы с БД; </a:t>
            </a:r>
            <a:r>
              <a:rPr lang="ru-RU" dirty="0" err="1"/>
              <a:t>Django</a:t>
            </a:r>
            <a:r>
              <a:rPr lang="ru-RU" dirty="0"/>
              <a:t> REST </a:t>
            </a:r>
            <a:r>
              <a:rPr lang="ru-RU" dirty="0" err="1"/>
              <a:t>Framework</a:t>
            </a:r>
            <a:r>
              <a:rPr lang="ru-RU" dirty="0"/>
              <a:t> — основной каталог и </a:t>
            </a:r>
            <a:r>
              <a:rPr lang="ru-RU" dirty="0" err="1"/>
              <a:t>админка</a:t>
            </a:r>
            <a:r>
              <a:rPr lang="ru-RU" dirty="0"/>
              <a:t>; модели согласованы по структуре данных</a:t>
            </a:r>
          </a:p>
        </p:txBody>
      </p:sp>
    </p:spTree>
    <p:extLst>
      <p:ext uri="{BB962C8B-B14F-4D97-AF65-F5344CB8AC3E}">
        <p14:creationId xmlns:p14="http://schemas.microsoft.com/office/powerpoint/2010/main" val="1509328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2103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429</Words>
  <Application>Microsoft Office PowerPoint</Application>
  <PresentationFormat>Широкоэкранный</PresentationFormat>
  <Paragraphs>96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Ferronordic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Ivanov Ivan</dc:creator>
  <cp:lastModifiedBy>Ivanov Ivan</cp:lastModifiedBy>
  <cp:revision>17</cp:revision>
  <dcterms:created xsi:type="dcterms:W3CDTF">2026-06-18T03:09:00Z</dcterms:created>
  <dcterms:modified xsi:type="dcterms:W3CDTF">2026-06-27T10:04:23Z</dcterms:modified>
</cp:coreProperties>
</file>